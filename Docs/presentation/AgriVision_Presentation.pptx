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572000"/>
          </a:xfrm>
          <a:prstGeom prst="roundRect">
            <a:avLst/>
          </a:prstGeom>
          <a:solidFill>
            <a:srgbClr val="10241C"/>
          </a:solidFill>
          <a:ln w="1905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2926080" cy="365760"/>
          </a:xfrm>
          <a:prstGeom prst="roundRect">
            <a:avLst/>
          </a:prstGeom>
          <a:solidFill>
            <a:srgbClr val="1032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AGRONOMIC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AgriVision</a:t>
            </a:r>
          </a:p>
          <a:p>
            <a:pPr>
              <a:spcBef>
                <a:spcPts val="800"/>
              </a:spcBef>
              <a:defRPr sz="2000" b="1">
                <a:solidFill>
                  <a:srgbClr val="34D399"/>
                </a:solidFill>
              </a:defRPr>
            </a:pPr>
            <a:r>
              <a:t>Software Architecture, Multi-Spectral Remote Sensing &amp; HITL Guardrails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Enterprise precision agriculture platform unifying satellite remote sensing, edge IoT telemetry, and autonomous Gemini AI reasoning with Human-in-the-Loop clinical safety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114800"/>
            <a:ext cx="4754880" cy="1097280"/>
          </a:xfrm>
          <a:prstGeom prst="roundRect">
            <a:avLst/>
          </a:prstGeom>
          <a:solidFill>
            <a:srgbClr val="0C1C16"/>
          </a:solidFill>
          <a:ln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SYSTEMS ARCHITECT &amp; SOLE DEVELOPER</a:t>
            </a:r>
          </a:p>
          <a:p>
            <a:pPr>
              <a:spcBef>
                <a:spcPts val="300"/>
              </a:spcBef>
              <a:defRPr sz="1600" b="1">
                <a:solidFill>
                  <a:srgbClr val="FFFFFF"/>
                </a:solidFill>
              </a:defRPr>
            </a:pPr>
            <a:r>
              <a:t>Muhammad Ahmad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Full-Stack • Firmware • Distributed Backend • Spatial GIS • 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4754880" cy="1097280"/>
          </a:xfrm>
          <a:prstGeom prst="roundRect">
            <a:avLst/>
          </a:prstGeom>
          <a:solidFill>
            <a:srgbClr val="0C1C16"/>
          </a:solidFill>
          <a:ln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COMPREHENSIVE TECHNOLOGY ECOSYSTEM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iOS (SwiftUI/MVVM-C) • Cloud Backend (FastAPI/PostGIS/TimescaleDB)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Web GIS Portal (React 19) • Edge Hardware (ESP32-S3 PlatformIO/C++)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STRATEGIC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Platform Mission &amp; Architectural Scope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Synthesizing macro satellite earth observation, micro IoT edge telemetry, and multimodal visual diagnostics.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310896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Tri-Source Telemetry Synthesis</a:t>
            </a:r>
            <a:r>
              <a:rPr sz="1000" b="1">
                <a:solidFill>
                  <a:srgbClr val="10B981"/>
                </a:solidFill>
              </a:rPr>
              <a:t>  [CORE MISSION]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Macro Telemetry (Satellite):</a:t>
            </a:r>
            <a:r>
              <a:rPr sz="1100">
                <a:solidFill>
                  <a:srgbClr val="94A3B8"/>
                </a:solidFill>
              </a:rPr>
              <a:t> Automated synchronization with Sentinel-2 and AgroMonitoring for 8 spectral indices (NDVI, NDWI, EVI, DSWI, etc.).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Micro Telemetry (IoT Sensors):</a:t>
            </a:r>
            <a:r>
              <a:rPr sz="1100">
                <a:solidFill>
                  <a:srgbClr val="94A3B8"/>
                </a:solidFill>
              </a:rPr>
              <a:t> Sub-surface telemetry capture via ESP32-S3 nodes measuring volumetric moisture &amp; root-zone soil temperature.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Visual Telemetry (Multimodal):</a:t>
            </a:r>
            <a:r>
              <a:rPr sz="1100">
                <a:solidFill>
                  <a:srgbClr val="94A3B8"/>
                </a:solidFill>
              </a:rPr>
              <a:t> In-field high-resolution visual capture submitted by farmers via mobile for generative AI disease pathology.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Unified Agronomic Core:</a:t>
            </a:r>
            <a:r>
              <a:rPr sz="1100">
                <a:solidFill>
                  <a:srgbClr val="94A3B8"/>
                </a:solidFill>
              </a:rPr>
              <a:t> Cross-correlates multi-tier data points to eradicate diagnostic blind spots and optimize crop yields.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755648"/>
            <a:ext cx="310896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Target Stakeholders</a:t>
            </a:r>
            <a:r>
              <a:rPr sz="1000" b="1">
                <a:solidFill>
                  <a:srgbClr val="06B6D4"/>
                </a:solidFill>
              </a:rPr>
              <a:t>  [USER ROLES]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Field Farmers (iOS Native):</a:t>
            </a:r>
            <a:r>
              <a:rPr sz="1100">
                <a:solidFill>
                  <a:srgbClr val="94A3B8"/>
                </a:solidFill>
              </a:rPr>
              <a:t> High-performance offline-first native mobile app for boundary drafting, sensor alerts, and camera diagnostic consultations.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Certified Agronomists (Web Portal):</a:t>
            </a:r>
            <a:r>
              <a:rPr sz="1100">
                <a:solidFill>
                  <a:srgbClr val="94A3B8"/>
                </a:solidFill>
              </a:rPr>
              <a:t> High-density GIS workstation for spatial raster inspection, index time-series analysis, and clinical HITL steering.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System Administrators:</a:t>
            </a:r>
            <a:r>
              <a:rPr sz="1100">
                <a:solidFill>
                  <a:srgbClr val="94A3B8"/>
                </a:solidFill>
              </a:rPr>
              <a:t> Fleet device provisioning, MQTT broker health monitoring, worker queue management, and role-based access audit logs.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Collaborative Field Tenancy:</a:t>
            </a:r>
            <a:r>
              <a:rPr sz="1100">
                <a:solidFill>
                  <a:srgbClr val="94A3B8"/>
                </a:solidFill>
              </a:rPr>
              <a:t> Granular role assignments per field enabling supervised agricultural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755648"/>
            <a:ext cx="310896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Multi-Tier Scope</a:t>
            </a:r>
            <a:r>
              <a:rPr sz="1000" b="1">
                <a:solidFill>
                  <a:srgbClr val="F59E0B"/>
                </a:solidFill>
              </a:rPr>
              <a:t>  [SYSTEM STACK]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iOS Client:</a:t>
            </a:r>
            <a:r>
              <a:rPr sz="1100">
                <a:solidFill>
                  <a:srgbClr val="94A3B8"/>
                </a:solidFill>
              </a:rPr>
              <a:t> SwiftUI / MVVM-Coordinator architecture with Combine state bindings, SwiftData offline cache, and MapKit vector rendering.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Cloud Backend:</a:t>
            </a:r>
            <a:r>
              <a:rPr sz="1100">
                <a:solidFill>
                  <a:srgbClr val="94A3B8"/>
                </a:solidFill>
              </a:rPr>
              <a:t> Asynchronous Python FastAPI gateway, TimescaleDB hypertable telemetry storage, PostGIS spatial computation, Celery workers.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Web GIS Portal:</a:t>
            </a:r>
            <a:r>
              <a:rPr sz="1100">
                <a:solidFill>
                  <a:srgbClr val="94A3B8"/>
                </a:solidFill>
              </a:rPr>
              <a:t> Modern React 19 + TypeScript dashboard leveraging TanStack Query, Leaflet / MapLibre raster rendering, and Tailwind CSS.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Edge Firmware:</a:t>
            </a:r>
            <a:r>
              <a:rPr sz="1100">
                <a:solidFill>
                  <a:srgbClr val="94A3B8"/>
                </a:solidFill>
              </a:rPr>
              <a:t> ESP32-S3 firmware in PlatformIO/C++ implementing MQTT QoS 1 telemetry and hardware fault isolation.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EDGE &amp; EMBEDDED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Edge Sensing &amp; IoT Hardware Telemetry Pipeline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Industrial-grade ESP32-S3 sensor nodes with fault protection, MQTT broker ingestion, and TimescaleDB hypertable rollups.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50292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Embedded Node Hardware Specs</a:t>
            </a:r>
            <a:r>
              <a:rPr sz="1000" b="1">
                <a:solidFill>
                  <a:srgbClr val="10B981"/>
                </a:solidFill>
              </a:rPr>
              <a:t>  [ESP32-S3 / C++]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1000">
                <a:solidFill>
                  <a:srgbClr val="34D399"/>
                </a:solidFill>
              </a:rPr>
              <a:t>• Microcontroller Unit:</a:t>
            </a:r>
            <a:r>
              <a:rPr sz="1000">
                <a:solidFill>
                  <a:srgbClr val="94A3B8"/>
                </a:solidFill>
              </a:rPr>
              <a:t> ESP32-S3 dual-core Xtensa LX7 @ 240MHz with 512KB SRAM and integrated 2.4GHz Wi-Fi/BLE.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4D399"/>
                </a:solidFill>
              </a:rPr>
              <a:t>• Soil Moisture Sensing (GPIO 5):</a:t>
            </a:r>
            <a:r>
              <a:rPr sz="1000">
                <a:solidFill>
                  <a:srgbClr val="94A3B8"/>
                </a:solidFill>
              </a:rPr>
              <a:t> Capacitive analog probe with ADC calibration and open/short-circuit detection circuit (ADC &lt; 50mV or &gt; 3250mV flags wire cuts).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4D399"/>
                </a:solidFill>
              </a:rPr>
              <a:t>• Soil Temperature (GPIO 6):</a:t>
            </a:r>
            <a:r>
              <a:rPr sz="1000">
                <a:solidFill>
                  <a:srgbClr val="94A3B8"/>
                </a:solidFill>
              </a:rPr>
              <a:t> Dallas DS18B20 1-Wire digital probe (-55°C to +125°C, ±0.5°C accuracy) with parasitic/external pull-up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4041648"/>
            <a:ext cx="502920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Ingestion &amp; Rollup Safeguards</a:t>
            </a:r>
            <a:r>
              <a:rPr sz="1000" b="1">
                <a:solidFill>
                  <a:srgbClr val="06B6D4"/>
                </a:solidFill>
              </a:rPr>
              <a:t>  [INGESTION PIPELINE]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1000">
                <a:solidFill>
                  <a:srgbClr val="06B6D4"/>
                </a:solidFill>
              </a:rPr>
              <a:t>• MQTT Ingestion Topology:</a:t>
            </a:r>
            <a:r>
              <a:rPr sz="1000">
                <a:solidFill>
                  <a:srgbClr val="94A3B8"/>
                </a:solidFill>
              </a:rPr>
              <a:t> Eclipse Mosquitto broker (QoS 1) -&gt; Async FastAPI background consumers -&gt; TimescaleDB hypertables.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6B6D4"/>
                </a:solidFill>
              </a:rPr>
              <a:t>• Batch Writes &amp; Conflict Handling:</a:t>
            </a:r>
            <a:r>
              <a:rPr sz="1000">
                <a:solidFill>
                  <a:srgbClr val="94A3B8"/>
                </a:solidFill>
              </a:rPr>
              <a:t> Ingestion batches up to 50 rows via `COPY`/bulk `INSERT ... ON CONFLICT DO NOTHING` on `(sensor_id, time)`.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6B6D4"/>
                </a:solidFill>
              </a:rPr>
              <a:t>• Per-Device Flood Limit:</a:t>
            </a:r>
            <a:r>
              <a:rPr sz="1000">
                <a:solidFill>
                  <a:srgbClr val="94A3B8"/>
                </a:solidFill>
              </a:rPr>
              <a:t> Token-bucket rate limiter enforces maximum 120 messages per 60 seconds per device ID to prevent DDoS/loops.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6B6D4"/>
                </a:solidFill>
              </a:rPr>
              <a:t>• Clock Skew &amp; Rollup Pruning:</a:t>
            </a:r>
            <a:r>
              <a:rPr sz="1000">
                <a:solidFill>
                  <a:srgbClr val="94A3B8"/>
                </a:solidFill>
              </a:rPr>
              <a:t> 5-minute skew rejection guard. Automated continuous aggregates compute hourly min/max/mean rollups; 14-day raw data pruning.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645920"/>
            <a:ext cx="512064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830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TELEMETRY INGESTION SEQUENCE FLOW</a:t>
            </a:r>
          </a:p>
        </p:txBody>
      </p:sp>
      <p:pic>
        <p:nvPicPr>
          <p:cNvPr id="15" name="Picture 14" descr="07_seq_iot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94560"/>
            <a:ext cx="4754880" cy="36576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EARTH OBSERVATION &amp; SPATIAL 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Multi-Spectral Satellite Remote Sensing &amp; GIS Engine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Automated Sentinel-2 / AgroMonitoring synchronization, topological boundary validation, and 8 spectral index rasters.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310896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Vector Boundary Validation</a:t>
            </a:r>
            <a:r>
              <a:rPr sz="1000" b="1">
                <a:solidFill>
                  <a:srgbClr val="10B981"/>
                </a:solidFill>
              </a:rPr>
              <a:t>  [POSTGIS ENGINE]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PostGIS Georeferencing:</a:t>
            </a:r>
            <a:r>
              <a:rPr sz="1100">
                <a:solidFill>
                  <a:srgbClr val="94A3B8"/>
                </a:solidFill>
              </a:rPr>
              <a:t> Fields stored as `ST_Polygon` in SRID 4326 (WGS 84), with automatic planar projection to EPSG:3857 for precise cartography.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Topological Integrity Checks:</a:t>
            </a:r>
            <a:r>
              <a:rPr sz="1100">
                <a:solidFill>
                  <a:srgbClr val="94A3B8"/>
                </a:solidFill>
              </a:rPr>
              <a:t> Rigorous geometry validation via `ST_IsValid()` rejects self-intersecting loops, spikes, and duplicate vertices.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Area Threshold Enforcement:</a:t>
            </a:r>
            <a:r>
              <a:rPr sz="1100">
                <a:solidFill>
                  <a:srgbClr val="94A3B8"/>
                </a:solidFill>
              </a:rPr>
              <a:t> Calculated surface area enforced between 1.0 hectare and 3,000.0 hectares using `ST_Area(geography)`.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Dynamic Centroid Computation:</a:t>
            </a:r>
            <a:r>
              <a:rPr sz="1100">
                <a:solidFill>
                  <a:srgbClr val="94A3B8"/>
                </a:solidFill>
              </a:rPr>
              <a:t> Real-time calculation of visual centroids for weather forecast station anchoring and satellite bounding box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755648"/>
            <a:ext cx="310896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Constellation Synchronization</a:t>
            </a:r>
            <a:r>
              <a:rPr sz="1000" b="1">
                <a:solidFill>
                  <a:srgbClr val="06B6D4"/>
                </a:solidFill>
              </a:rPr>
              <a:t>  [SENTINEL-2 / AGRO]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Automated Acquisition Pipeline:</a:t>
            </a:r>
            <a:r>
              <a:rPr sz="1100">
                <a:solidFill>
                  <a:srgbClr val="94A3B8"/>
                </a:solidFill>
              </a:rPr>
              <a:t> Celery beat workers query European Space Agency (ESA) Sentinel-2 passes via AgroMonitoring APIs every 5 days.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Cloud Coverage Filtering:</a:t>
            </a:r>
            <a:r>
              <a:rPr sz="1100">
                <a:solidFill>
                  <a:srgbClr val="94A3B8"/>
                </a:solidFill>
              </a:rPr>
              <a:t> Ingests only scenes with &lt; 20% cloud cover to guarantee spectral purity and eliminate false cloud anomalies.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8 Multi-Spectral Indices:</a:t>
            </a:r>
            <a:r>
              <a:rPr sz="1100">
                <a:solidFill>
                  <a:srgbClr val="94A3B8"/>
                </a:solidFill>
              </a:rPr>
              <a:t> Full support for NDVI (Canopy Vigour), NDWI (Canopy Water Content), EVI/EVI2 (Atmospheric Corrected Vigour), Truecolor (RGB), Falsecolor (NIR/Red/Green), NRI (Nitrogen Reflectance Index), and DSWI (Drought Stress Water Index).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Historic Baseline Profiling:</a:t>
            </a:r>
            <a:r>
              <a:rPr sz="1100">
                <a:solidFill>
                  <a:srgbClr val="94A3B8"/>
                </a:solidFill>
              </a:rPr>
              <a:t> Computes 12-month trailing index trajectories for anomalies.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755648"/>
            <a:ext cx="310896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Dynamic Tile Delivery &amp; Proxy</a:t>
            </a:r>
            <a:r>
              <a:rPr sz="1000" b="1">
                <a:solidFill>
                  <a:srgbClr val="F59E0B"/>
                </a:solidFill>
              </a:rPr>
              <a:t>  [CLIENT RENDER]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Authenticated Tile Proxy:</a:t>
            </a:r>
            <a:r>
              <a:rPr sz="1100">
                <a:solidFill>
                  <a:srgbClr val="94A3B8"/>
                </a:solidFill>
              </a:rPr>
              <a:t> FastAPI endpoints `/api/v1/satellite/tiles/{field_id}/{layer}/{z}/{x}/{y}` securely proxy raster data.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API Key Protection:</a:t>
            </a:r>
            <a:r>
              <a:rPr sz="1100">
                <a:solidFill>
                  <a:srgbClr val="94A3B8"/>
                </a:solidFill>
              </a:rPr>
              <a:t> Third-party upstream API keys remain entirely concealed within the private cloud infrastructure.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Low-Latency In-Memory Caching:</a:t>
            </a:r>
            <a:r>
              <a:rPr sz="1100">
                <a:solidFill>
                  <a:srgbClr val="94A3B8"/>
                </a:solidFill>
              </a:rPr>
              <a:t> High-speed caching stores fetched 256x256 Web Mercator raster tiles, reducing upstream latency from 850ms to &lt; 25ms.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Dual-Client Harmonization:</a:t>
            </a:r>
            <a:r>
              <a:rPr sz="1100">
                <a:solidFill>
                  <a:srgbClr val="94A3B8"/>
                </a:solidFill>
              </a:rPr>
              <a:t> Seamless tile consumption across React 19 Leaflet overlays and iOS MapKit `MKTileOverlay` renderers.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GENERATIVE AI &amp; AGRONOMIC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Autonomous Generative AI Advisory &amp; RAG Pipeline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Multimodal plant pathology, localized Punjabi agricultural grounding via Vertex AI Search, and rolling seasonal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310896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Multimodal Camera Diagnostics</a:t>
            </a:r>
            <a:r>
              <a:rPr sz="1000" b="1">
                <a:solidFill>
                  <a:srgbClr val="10B981"/>
                </a:solidFill>
              </a:rPr>
              <a:t>  [GEMINI VISION]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Native iOS Capture Pipeline:</a:t>
            </a:r>
            <a:r>
              <a:rPr sz="1100">
                <a:solidFill>
                  <a:srgbClr val="94A3B8"/>
                </a:solidFill>
              </a:rPr>
              <a:t> Farmers capture diseased foliage or insect infestations directly using the native hardware camera interface.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Privacy &amp; Optimization Filter:</a:t>
            </a:r>
            <a:r>
              <a:rPr sz="1100">
                <a:solidFill>
                  <a:srgbClr val="94A3B8"/>
                </a:solidFill>
              </a:rPr>
              <a:t> Server-side stripping of sensitive EXIF metadata (GPS, serials, timestamps) prior to model ingestion.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Image Preprocessing:</a:t>
            </a:r>
            <a:r>
              <a:rPr sz="1100">
                <a:solidFill>
                  <a:srgbClr val="94A3B8"/>
                </a:solidFill>
              </a:rPr>
              <a:t> Automated bilinear downscaling to max 2048px dimension with progressive JPEG re-encoding (reducing payload by 85%).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Dual-Model Vision Inference:</a:t>
            </a:r>
            <a:r>
              <a:rPr sz="1100">
                <a:solidFill>
                  <a:srgbClr val="94A3B8"/>
                </a:solidFill>
              </a:rPr>
              <a:t> Gemini 1.5 Pro / Flash vision models identify pathogen symptoms, lesion geometry, and leaf necrosis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755648"/>
            <a:ext cx="310896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Grounded RAG Retrieval</a:t>
            </a:r>
            <a:r>
              <a:rPr sz="1000" b="1">
                <a:solidFill>
                  <a:srgbClr val="06B6D4"/>
                </a:solidFill>
              </a:rPr>
              <a:t>  [VERTEX AI SEARCH]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Official Local Grounding:</a:t>
            </a:r>
            <a:r>
              <a:rPr sz="1100">
                <a:solidFill>
                  <a:srgbClr val="94A3B8"/>
                </a:solidFill>
              </a:rPr>
              <a:t> Real-time semantic vector retrieval indexed against official Punjab Agricultural Extension guides and manuals.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Pathology &amp; Dosage Knowledge:</a:t>
            </a:r>
            <a:r>
              <a:rPr sz="1100">
                <a:solidFill>
                  <a:srgbClr val="94A3B8"/>
                </a:solidFill>
              </a:rPr>
              <a:t> Validates pesticide chemistry, bio-fungicides, fertilizer compatibility, and region-specific sowing calendars.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Hallucination Suppression:</a:t>
            </a:r>
            <a:r>
              <a:rPr sz="1100">
                <a:solidFill>
                  <a:srgbClr val="94A3B8"/>
                </a:solidFill>
              </a:rPr>
              <a:t> Strict system prompt instructions enforce zero hallucination; ungrounded synthetic chemical formulas are strictly rejected.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Contextual Field Injection:</a:t>
            </a:r>
            <a:r>
              <a:rPr sz="1100">
                <a:solidFill>
                  <a:srgbClr val="94A3B8"/>
                </a:solidFill>
              </a:rPr>
              <a:t> Queries are augmented with real-time field state: current soil moisture, 5-day weather forecast, and NDVI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755648"/>
            <a:ext cx="310896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Long-Term Season Memory</a:t>
            </a:r>
            <a:r>
              <a:rPr sz="1000" b="1">
                <a:solidFill>
                  <a:srgbClr val="F59E0B"/>
                </a:solidFill>
              </a:rPr>
              <a:t>  [ROLLING MEMORY]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Field Memory Store:</a:t>
            </a:r>
            <a:r>
              <a:rPr sz="1100">
                <a:solidFill>
                  <a:srgbClr val="94A3B8"/>
                </a:solidFill>
              </a:rPr>
              <a:t> `field_season_memory` table maintains an autonomous 1,200-character rolling digest of field crop history.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Multi-Month Context Awareness:</a:t>
            </a:r>
            <a:r>
              <a:rPr sz="1100">
                <a:solidFill>
                  <a:srgbClr val="94A3B8"/>
                </a:solidFill>
              </a:rPr>
              <a:t> Tracks prior fertilizer applications, past pest infestations, soil depletion trends, and agronomist steering notes.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Autonomous Consolidation:</a:t>
            </a:r>
            <a:r>
              <a:rPr sz="1100">
                <a:solidFill>
                  <a:srgbClr val="94A3B8"/>
                </a:solidFill>
              </a:rPr>
              <a:t> Background LLM summarizer compresses conversational turns and clinical decisions after every interaction.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Continuity Across Cycles:</a:t>
            </a:r>
            <a:r>
              <a:rPr sz="1100">
                <a:solidFill>
                  <a:srgbClr val="94A3B8"/>
                </a:solidFill>
              </a:rPr>
              <a:t> Guarantees that advice given in August accounts for chemical treatments and crop rotation applied in May.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SAFETY GUARDRAILS &amp; CLINICAL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Human-in-the-Loop (HITL) Safety &amp; Expert Steering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Rule-based chemical policy interception, agronomist clinical triage queue, and authoritative expert steering drawer.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502920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Chemical Interception &amp; Triage Queue</a:t>
            </a:r>
            <a:r>
              <a:rPr sz="1000" b="1">
                <a:solidFill>
                  <a:srgbClr val="F43F5E"/>
                </a:solidFill>
              </a:rPr>
              <a:t>  [CLINICAL GATE]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1000">
                <a:solidFill>
                  <a:srgbClr val="F43F5E"/>
                </a:solidFill>
              </a:rPr>
              <a:t>• Deterministic Safety Interceptor:</a:t>
            </a:r>
            <a:r>
              <a:rPr sz="1000">
                <a:solidFill>
                  <a:srgbClr val="94A3B8"/>
                </a:solidFill>
              </a:rPr>
              <a:t> Rule-based policy engine inspects all raw AI outputs for restricted chemical compounds (e.g. organophosphates, systemic fungicides).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F43F5E"/>
                </a:solidFill>
              </a:rPr>
              <a:t>• Safety Level Classification:</a:t>
            </a:r>
            <a:r>
              <a:rPr sz="1000">
                <a:solidFill>
                  <a:srgbClr val="94A3B8"/>
                </a:solidFill>
              </a:rPr>
              <a:t> Any dosage or toxicity recommendation automatically flags `safety_level = 'high_risk'` and marks `expert_status = 'pending'`.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F43F5E"/>
                </a:solidFill>
              </a:rPr>
              <a:t>• Delivery Quarantine:</a:t>
            </a:r>
            <a:r>
              <a:rPr sz="1000">
                <a:solidFill>
                  <a:srgbClr val="94A3B8"/>
                </a:solidFill>
              </a:rPr>
              <a:t> Toxic recommendations are strictly suppressed from the farmer's mobile interface until an accredited agronomist signs 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4041648"/>
            <a:ext cx="50292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Agronomist Portal &amp; Expert Steering</a:t>
            </a:r>
            <a:r>
              <a:rPr sz="1000" b="1">
                <a:solidFill>
                  <a:srgbClr val="10B981"/>
                </a:solidFill>
              </a:rPr>
              <a:t>  [STEERING DRAWER]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1000">
                <a:solidFill>
                  <a:srgbClr val="34D399"/>
                </a:solidFill>
              </a:rPr>
              <a:t>• Clinical Triage Portal (`AIAdvisoryView`):</a:t>
            </a:r>
            <a:r>
              <a:rPr sz="1000">
                <a:solidFill>
                  <a:srgbClr val="94A3B8"/>
                </a:solidFill>
              </a:rPr>
              <a:t> Dedicated Web GIS clinical queue where agronomists review raw AI diagnostics alongside satellite imagery &amp; sensor curves.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4D399"/>
                </a:solidFill>
              </a:rPr>
              <a:t>• Direct Intervention Actions:</a:t>
            </a:r>
            <a:r>
              <a:rPr sz="1000">
                <a:solidFill>
                  <a:srgbClr val="94A3B8"/>
                </a:solidFill>
              </a:rPr>
              <a:t> Agronomists can: [1] Approve as-is, [2] Edit dosage/chemistry with clinical notes, or [3] Reject and substitute alternative treatments.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34D399"/>
                </a:solidFill>
              </a:rPr>
              <a:t>• Authoritative Memory Injection:</a:t>
            </a:r>
            <a:r>
              <a:rPr sz="1000">
                <a:solidFill>
                  <a:srgbClr val="94A3B8"/>
                </a:solidFill>
              </a:rPr>
              <a:t> Expert steering drawer directly injects agronomist directives into `field_season_memory`, constraining future AI reasoning loops.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645920"/>
            <a:ext cx="512064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830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HITL INTERCEPTION &amp; CLINICAL APPROVAL FLOW</a:t>
            </a:r>
          </a:p>
        </p:txBody>
      </p:sp>
      <p:pic>
        <p:nvPicPr>
          <p:cNvPr id="15" name="Picture 14" descr="08_seq_ai_reasoning_hi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94560"/>
            <a:ext cx="4754880" cy="36576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DEVELOPMENT METHODOLOGY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Software Engineering Methodology &amp; Resourcing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High-discipline single-lane Kanban execution across 5 tech stacks with dual-tier automated test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310896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Solo Execution Constraints</a:t>
            </a:r>
            <a:r>
              <a:rPr sz="1000" b="1">
                <a:solidFill>
                  <a:srgbClr val="06B6D4"/>
                </a:solidFill>
              </a:rPr>
              <a:t>  [5 TECH STACKS]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Single-Resource Execution:</a:t>
            </a:r>
            <a:r>
              <a:rPr sz="1100">
                <a:solidFill>
                  <a:srgbClr val="94A3B8"/>
                </a:solidFill>
              </a:rPr>
              <a:t> Designed, engineered, verified, and deployed entirely by sole developer Muhammad Ahmad.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Unified Systems Breadth:</a:t>
            </a:r>
            <a:r>
              <a:rPr sz="1100">
                <a:solidFill>
                  <a:srgbClr val="94A3B8"/>
                </a:solidFill>
              </a:rPr>
              <a:t> Spans ESP32-S3 C++ firmware, distributed FastAPI services, PostGIS spatial queries, SwiftUI iOS, and React 19 GIS.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Architectural Modularity:</a:t>
            </a:r>
            <a:r>
              <a:rPr sz="1100">
                <a:solidFill>
                  <a:srgbClr val="94A3B8"/>
                </a:solidFill>
              </a:rPr>
              <a:t> Decoupled micro-services and clear contract boundaries prevented dependency lock-in and cognitive overload.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</a:rPr>
              <a:t>• Full DevOps Ownership:</a:t>
            </a:r>
            <a:r>
              <a:rPr sz="1100">
                <a:solidFill>
                  <a:srgbClr val="94A3B8"/>
                </a:solidFill>
              </a:rPr>
              <a:t> Single-handedly authored Docker Compose orchestration, TimescaleDB migrations, and CI test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755648"/>
            <a:ext cx="310896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Work Discipline &amp; Kanban</a:t>
            </a:r>
            <a:r>
              <a:rPr sz="1000" b="1">
                <a:solidFill>
                  <a:srgbClr val="F59E0B"/>
                </a:solidFill>
              </a:rPr>
              <a:t>  [WIP LIMIT =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Single-Lane Kanban Cadence:</a:t>
            </a:r>
            <a:r>
              <a:rPr sz="1100">
                <a:solidFill>
                  <a:srgbClr val="94A3B8"/>
                </a:solidFill>
              </a:rPr>
              <a:t> Strict Work-In-Progress (WIP) limit of 1 active subsystem at any given time to eliminate context-switching waste.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Vertical-Slice Increments:</a:t>
            </a:r>
            <a:r>
              <a:rPr sz="1100">
                <a:solidFill>
                  <a:srgbClr val="94A3B8"/>
                </a:solidFill>
              </a:rPr>
              <a:t> Every sprint delivered a fully functional end-to-end slice (sensor -&gt; MQTT -&gt; database -&gt; API -&gt; mobile/web UI).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Defect-First Triage:</a:t>
            </a:r>
            <a:r>
              <a:rPr sz="1100">
                <a:solidFill>
                  <a:srgbClr val="94A3B8"/>
                </a:solidFill>
              </a:rPr>
              <a:t> Zero tolerance for lingering architectural debt; automated regressions halted forward development until resolved.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9E0B"/>
                </a:solidFill>
              </a:rPr>
              <a:t>• Living Documentation:</a:t>
            </a:r>
            <a:r>
              <a:rPr sz="1100">
                <a:solidFill>
                  <a:srgbClr val="94A3B8"/>
                </a:solidFill>
              </a:rPr>
              <a:t> Complete traceability from PRD/SRS requirements to automated test case execution 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755648"/>
            <a:ext cx="310896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Quality Assurance Gates</a:t>
            </a:r>
            <a:r>
              <a:rPr sz="1000" b="1">
                <a:solidFill>
                  <a:srgbClr val="10B981"/>
                </a:solidFill>
              </a:rPr>
              <a:t>  [392 AUTOMATED TESTS]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017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Automated Test Suite:</a:t>
            </a:r>
            <a:r>
              <a:rPr sz="1100">
                <a:solidFill>
                  <a:srgbClr val="94A3B8"/>
                </a:solidFill>
              </a:rPr>
              <a:t> 179 Pytest backend test cases (API routes, GIS math, Celery workers) + 213 XCTest iOS client tests (models, views, coordinators).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Strict Static Analysis:</a:t>
            </a:r>
            <a:r>
              <a:rPr sz="1100">
                <a:solidFill>
                  <a:srgbClr val="94A3B8"/>
                </a:solidFill>
              </a:rPr>
              <a:t> Automated `oxlint` rule evaluation and zero-warning `tsc -b` TypeScript build enforcement on Web GIS.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AI-Assisted Pair Audits:</a:t>
            </a:r>
            <a:r>
              <a:rPr sz="1100">
                <a:solidFill>
                  <a:srgbClr val="94A3B8"/>
                </a:solidFill>
              </a:rPr>
              <a:t> Integrated Claude / GitHub Copilot audit branches to rigorously review security boundaries, memory leaks, and race conditions.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• Regression Immunity:</a:t>
            </a:r>
            <a:r>
              <a:rPr sz="1100">
                <a:solidFill>
                  <a:srgbClr val="94A3B8"/>
                </a:solidFill>
              </a:rPr>
              <a:t> Automated pre-commit hooks ensure zero compilation errors across firmware, backend, web, and iOS targets.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DISTRIBUTED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Multi-Tier System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6-tier decoupled topology with isolated container networks, Firebase JWT auth, and least-privilege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50292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6 Architectural Tiers &amp; Security</a:t>
            </a:r>
            <a:r>
              <a:rPr sz="1000" b="1">
                <a:solidFill>
                  <a:srgbClr val="10B981"/>
                </a:solidFill>
              </a:rPr>
              <a:t>  [TIER BREAKDOWN]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Tier 1 - Client Presentation:</a:t>
            </a:r>
            <a:r>
              <a:rPr sz="1000">
                <a:solidFill>
                  <a:srgbClr val="94A3B8"/>
                </a:solidFill>
              </a:rPr>
              <a:t> iOS 17+ Native app (SwiftUI, MVVM-C) + Web GIS Clinical Portal (React 19, TypeScript).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Tier 2 - Edge Hardware:</a:t>
            </a:r>
            <a:r>
              <a:rPr sz="1000">
                <a:solidFill>
                  <a:srgbClr val="94A3B8"/>
                </a:solidFill>
              </a:rPr>
              <a:t> ESP32-S3 nodes publishing encrypted telemetry over Wi-Fi via MQTT with hardware ADC fault detection.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Tier 3 - Gateway &amp; Ingestion:</a:t>
            </a:r>
            <a:r>
              <a:rPr sz="1000">
                <a:solidFill>
                  <a:srgbClr val="94A3B8"/>
                </a:solidFill>
              </a:rPr>
              <a:t> Mosquitto MQTT Broker + FastAPI ASGI Gateway handling JWT validation, rate limiting, and routing.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Tier 4 - Domain Services &amp; Workers:</a:t>
            </a:r>
            <a:r>
              <a:rPr sz="1000">
                <a:solidFill>
                  <a:srgbClr val="94A3B8"/>
                </a:solidFill>
              </a:rPr>
              <a:t> Celery background workers managing satellite raster sync, weather polling, and continuous telemetry rollups.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Tier 5 - Persistent Storage:</a:t>
            </a:r>
            <a:r>
              <a:rPr sz="1000">
                <a:solidFill>
                  <a:srgbClr val="94A3B8"/>
                </a:solidFill>
              </a:rPr>
              <a:t> PostgreSQL 16 + PostGIS (spatial polygons) + TimescaleDB (sensor hypertables) + Redis (cache/broker).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Tier 6 - External Cloud Services:</a:t>
            </a:r>
            <a:r>
              <a:rPr sz="1000">
                <a:solidFill>
                  <a:srgbClr val="94A3B8"/>
                </a:solidFill>
              </a:rPr>
              <a:t> Vertex AI Search, Google Gemini Vision 1.5, AgroMonitoring Satellite APIs, Firebase Auth.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Network Security &amp; Hardening:</a:t>
            </a:r>
            <a:r>
              <a:rPr sz="1000">
                <a:solidFill>
                  <a:srgbClr val="94A3B8"/>
                </a:solidFill>
              </a:rPr>
              <a:t> Docker bridge network (`agrivision_net`) isolates databases; non-root user execution; Firebase asymmetric JWT verification on all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645920"/>
            <a:ext cx="512064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830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LOGICAL ARCHITECTURE &amp; DATA FLOWS</a:t>
            </a:r>
          </a:p>
        </p:txBody>
      </p:sp>
      <p:pic>
        <p:nvPicPr>
          <p:cNvPr id="11" name="Picture 10" descr="04_log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94560"/>
            <a:ext cx="4754880" cy="3657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RELATIONAL &amp; TIME-SERIES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Persistence &amp; ERD Topology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22-entity hybrid relational, spatial, and hypertable time-series schema engineered for high-throughput precision agronomy.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502920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Core Schema Entities &amp; Polyglot Storage</a:t>
            </a:r>
            <a:r>
              <a:rPr sz="1000" b="1">
                <a:solidFill>
                  <a:srgbClr val="06B6D4"/>
                </a:solidFill>
              </a:rPr>
              <a:t>  [22 CORE ENTITIES]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00">
                <a:solidFill>
                  <a:srgbClr val="06B6D4"/>
                </a:solidFill>
              </a:rPr>
              <a:t>• Spatial Entities (`fields`, `zones`):</a:t>
            </a:r>
            <a:r>
              <a:rPr sz="1000">
                <a:solidFill>
                  <a:srgbClr val="94A3B8"/>
                </a:solidFill>
              </a:rPr>
              <a:t> PostGIS `GEOMETRY(Polygon, 4326)` columns with spatial indexing (`GIST`) for rapid containment queries.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6B6D4"/>
                </a:solidFill>
              </a:rPr>
              <a:t>• Time-Series Hypertables (`sensor_readings`):</a:t>
            </a:r>
            <a:r>
              <a:rPr sz="1000">
                <a:solidFill>
                  <a:srgbClr val="94A3B8"/>
                </a:solidFill>
              </a:rPr>
              <a:t> TimescaleDB chunked hypertable partitioned on `(time, sensor_id)` with compression policies for millions of data points.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6B6D4"/>
                </a:solidFill>
              </a:rPr>
              <a:t>• Identity &amp; RBAC (`users`, `user_roles`, `invitations`):</a:t>
            </a:r>
            <a:r>
              <a:rPr sz="1000">
                <a:solidFill>
                  <a:srgbClr val="94A3B8"/>
                </a:solidFill>
              </a:rPr>
              <a:t> Multi-tenant role-based access control linking Firebase UID to domain tenancy.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6B6D4"/>
                </a:solidFill>
              </a:rPr>
              <a:t>• Telemetry Hardware (`devices`, `sensors`, `device_health`):</a:t>
            </a:r>
            <a:r>
              <a:rPr sz="1000">
                <a:solidFill>
                  <a:srgbClr val="94A3B8"/>
                </a:solidFill>
              </a:rPr>
              <a:t> Hardware registry tracking firmware versions, battery voltages, and MAC addresses.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6B6D4"/>
                </a:solidFill>
              </a:rPr>
              <a:t>• AI &amp; Clinical Governance (`ai_analysis_runs`, `field_recommendations`):</a:t>
            </a:r>
            <a:r>
              <a:rPr sz="1000">
                <a:solidFill>
                  <a:srgbClr val="94A3B8"/>
                </a:solidFill>
              </a:rPr>
              <a:t> Full audit log storing raw Gemini prompts, RAG references, intercepted high-risk dosage flags, and agronomist signature status.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6B6D4"/>
                </a:solidFill>
              </a:rPr>
              <a:t>• Continuous Rollups (`sensor_readings_hourly`):</a:t>
            </a:r>
            <a:r>
              <a:rPr sz="1000">
                <a:solidFill>
                  <a:srgbClr val="94A3B8"/>
                </a:solidFill>
              </a:rPr>
              <a:t> Materialized views providing pre-computed statistical aggregations for instant dashboard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645920"/>
            <a:ext cx="512064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830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ENTITY-RELATIONSHIP (ERD) TOPOLOGY</a:t>
            </a:r>
          </a:p>
        </p:txBody>
      </p:sp>
      <p:pic>
        <p:nvPicPr>
          <p:cNvPr id="11" name="Picture 10" descr="03_database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94560"/>
            <a:ext cx="4754880" cy="3657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DELIVERY ROADMAP &amp; EXECUTION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Deliverables &amp; Milestones Roadmap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10-month systematic milestone execution spanning Jan 2026 to Oct 2026 across all core subsystems.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502920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Subsystem Execution Milestones</a:t>
            </a:r>
            <a:r>
              <a:rPr sz="1000" b="1">
                <a:solidFill>
                  <a:srgbClr val="F59E0B"/>
                </a:solidFill>
              </a:rPr>
              <a:t>  [JAN 2026 - OCT 2026]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Phase 1 (Jan - Feb 2026): Foundation &amp; Mobile Architecture:</a:t>
            </a:r>
            <a:r>
              <a:rPr sz="950">
                <a:solidFill>
                  <a:srgbClr val="94A3B8"/>
                </a:solidFill>
              </a:rPr>
              <a:t> Setup FastAPI project skeleton, Docker environment, PostgreSQL/PostGIS databases, and native iOS SwiftUI architecture.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Phase 2 (Mar - Apr 2026): Edge Hardware &amp; Telemetry Ingestion:</a:t>
            </a:r>
            <a:r>
              <a:rPr sz="950">
                <a:solidFill>
                  <a:srgbClr val="94A3B8"/>
                </a:solidFill>
              </a:rPr>
              <a:t> ESP32-S3 sensor firmware development, Mosquitto MQTT broker configuration, and TimescaleDB hypertable ingestion pipelines.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Phase 3 (May - Jun 2026): Satellite Remote Sensing &amp; GIS Engine:</a:t>
            </a:r>
            <a:r>
              <a:rPr sz="950">
                <a:solidFill>
                  <a:srgbClr val="94A3B8"/>
                </a:solidFill>
              </a:rPr>
              <a:t> AgroMonitoring API integration, automated Sentinel-2 synchronization, PostGIS vector validation, and raster tile proxy endpoints.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Phase 4 (Jul - Aug 2026): AI Advisory, RAG &amp; HITL Interception:</a:t>
            </a:r>
            <a:r>
              <a:rPr sz="950">
                <a:solidFill>
                  <a:srgbClr val="94A3B8"/>
                </a:solidFill>
              </a:rPr>
              <a:t> Gemini Vision multimodal model integration, Vertex AI Search RAG knowledge grounding, and clinical safety interception gate.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Phase 5 (Sep 2026): Agronomist Web GIS Portal (React 19):</a:t>
            </a:r>
            <a:r>
              <a:rPr sz="950">
                <a:solidFill>
                  <a:srgbClr val="94A3B8"/>
                </a:solidFill>
              </a:rPr>
              <a:t> Web GIS dashboard with raster layer overlays, interactive NDVI curves, and the clinical recommendation triage review queue.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Phase 6 (Oct 2026): Comprehensive QA, Hardening &amp; Deployment:</a:t>
            </a:r>
            <a:r>
              <a:rPr sz="950">
                <a:solidFill>
                  <a:srgbClr val="94A3B8"/>
                </a:solidFill>
              </a:rPr>
              <a:t> Complete automated test suite execution (392 tests), security audits, and production container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645920"/>
            <a:ext cx="512064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830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PROJECT GANTT SCHEDULE &amp; MILESTONES</a:t>
            </a:r>
          </a:p>
        </p:txBody>
      </p:sp>
      <p:pic>
        <p:nvPicPr>
          <p:cNvPr id="11" name="Picture 10" descr="02_gantt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94560"/>
            <a:ext cx="4754880" cy="3657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EXECUTIVE SUMMARY &amp; 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 &amp; System Impact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Delivering state-of-the-art agronomic intelligence with zero-compromise safety, spatial rigor, and production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493776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Key Engineering Achievements</a:t>
            </a:r>
            <a:r>
              <a:rPr sz="1000" b="1">
                <a:solidFill>
                  <a:srgbClr val="10B981"/>
                </a:solidFill>
              </a:rPr>
              <a:t>  [CORE ACCOMPLISHMENTS]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✔ Operational Tri-Source Telemetry:</a:t>
            </a:r>
            <a:r>
              <a:rPr sz="1050">
                <a:solidFill>
                  <a:srgbClr val="94A3B8"/>
                </a:solidFill>
              </a:rPr>
              <a:t> Unified satellite Earth observation (8 spectral layers), sub-surface IoT sensors (ESP32-S3), and farmer visual camera capture into one cohesive system.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✔ Safety-Guarded Autonomous AI Advisory:</a:t>
            </a:r>
            <a:r>
              <a:rPr sz="1050">
                <a:solidFill>
                  <a:srgbClr val="94A3B8"/>
                </a:solidFill>
              </a:rPr>
              <a:t> Gemini multimodal reasoning grounded with official Punjabi agricultural guides and strictly gated behind an agronomist HITL approval workflow.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✔ High-Performance Spatial &amp; Time-Series Core:</a:t>
            </a:r>
            <a:r>
              <a:rPr sz="1050">
                <a:solidFill>
                  <a:srgbClr val="94A3B8"/>
                </a:solidFill>
              </a:rPr>
              <a:t> Sub-millisecond GIS polygon validation via PostGIS and scalable time-series hypertable aggregation via TimescaleDB.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✔ Dual-Client Enterprise Experience:</a:t>
            </a:r>
            <a:r>
              <a:rPr sz="1050">
                <a:solidFill>
                  <a:srgbClr val="94A3B8"/>
                </a:solidFill>
              </a:rPr>
              <a:t> Frictionless offline-first native iOS mobile app for field operations combined with an advanced React 19 GIS clinical workstation for agronomists.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✔ Robust Software Engineering Rigor:</a:t>
            </a:r>
            <a:r>
              <a:rPr sz="1050">
                <a:solidFill>
                  <a:srgbClr val="94A3B8"/>
                </a:solidFill>
              </a:rPr>
              <a:t> 392 automated test cases verifying 100% of critical domain services, zero-leak telemetry ingestion, and strict type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4389120"/>
          </a:xfrm>
          <a:prstGeom prst="roundRect">
            <a:avLst/>
          </a:prstGeom>
          <a:solidFill>
            <a:srgbClr val="10241C"/>
          </a:solidFill>
          <a:ln w="12700">
            <a:solidFill>
              <a:srgbClr val="1E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2512" y="1755648"/>
            <a:ext cx="493776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74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Future Enhancements &amp; Scalability</a:t>
            </a:r>
            <a:r>
              <a:rPr sz="1000" b="1">
                <a:solidFill>
                  <a:srgbClr val="06B6D4"/>
                </a:solidFill>
              </a:rPr>
              <a:t>  [NEXT-PHASE ROADMAP]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40280"/>
            <a:ext cx="48463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06B6D4"/>
                </a:solidFill>
              </a:rPr>
              <a:t>➔ Remote Push Notifications (APNs / FCM):</a:t>
            </a:r>
            <a:r>
              <a:rPr sz="1050">
                <a:solidFill>
                  <a:srgbClr val="94A3B8"/>
                </a:solidFill>
              </a:rPr>
              <a:t> Implement real-time background push alerts notifying farmers immediately upon critical frost warnings, drought stress, or agronomist prescription releases.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B6D4"/>
                </a:solidFill>
              </a:rPr>
              <a:t>➔ Automated Hardware Diagnostics &amp; Over-The-Air (OTA):</a:t>
            </a:r>
            <a:r>
              <a:rPr sz="1050">
                <a:solidFill>
                  <a:srgbClr val="94A3B8"/>
                </a:solidFill>
              </a:rPr>
              <a:t> Roll out remote firmware updates over MQTT/HTTPS with automatic rollback and predictive battery failure warnings.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B6D4"/>
                </a:solidFill>
              </a:rPr>
              <a:t>➔ Edge ML Pathogen Detection:</a:t>
            </a:r>
            <a:r>
              <a:rPr sz="1050">
                <a:solidFill>
                  <a:srgbClr val="94A3B8"/>
                </a:solidFill>
              </a:rPr>
              <a:t> Deploy quantized TinyML vision models directly onto ESP32-CAM devices for offline real-time pest trap monitoring.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B6D4"/>
                </a:solidFill>
              </a:rPr>
              <a:t>➔ Automated Variable-Rate Irrigation Dispatch:</a:t>
            </a:r>
            <a:r>
              <a:rPr sz="1050">
                <a:solidFill>
                  <a:srgbClr val="94A3B8"/>
                </a:solidFill>
              </a:rPr>
              <a:t> Direct integration with motorized solenoid valves to trigger closed-loop precision irrigation based on real-time soil moisture rollups.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B6D4"/>
                </a:solidFill>
              </a:rPr>
              <a:t>➔ Multi-Regional RAG Knowledge Expansion:</a:t>
            </a:r>
            <a:r>
              <a:rPr sz="1050">
                <a:solidFill>
                  <a:srgbClr val="94A3B8"/>
                </a:solidFill>
              </a:rPr>
              <a:t> Expand vector retrieval databases to encompass Sindh, KPK, and international agronomic extension authorities.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1E4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AgriVision Platform • Technical Architecture &amp; SRS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